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091E4-0EE3-489E-BFAC-95ED9C0CC472}" v="30" dt="2026-02-19T20:39:57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>
        <p:scale>
          <a:sx n="60" d="100"/>
          <a:sy n="60" d="100"/>
        </p:scale>
        <p:origin x="45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V KV" userId="b5fbb1515ce3f78e" providerId="LiveId" clId="{2838AA4A-59AC-47B0-A609-4ABA9BD9BE11}"/>
    <pc:docChg chg="undo custSel addSld delSld modSld sldOrd">
      <pc:chgData name="KV KV" userId="b5fbb1515ce3f78e" providerId="LiveId" clId="{2838AA4A-59AC-47B0-A609-4ABA9BD9BE11}" dt="2026-02-19T20:39:57.956" v="1536" actId="20577"/>
      <pc:docMkLst>
        <pc:docMk/>
      </pc:docMkLst>
      <pc:sldChg chg="addSp delSp modSp mod setBg addAnim delAnim">
        <pc:chgData name="KV KV" userId="b5fbb1515ce3f78e" providerId="LiveId" clId="{2838AA4A-59AC-47B0-A609-4ABA9BD9BE11}" dt="2026-02-19T20:39:57.956" v="1536" actId="20577"/>
        <pc:sldMkLst>
          <pc:docMk/>
          <pc:sldMk cId="336680936" sldId="256"/>
        </pc:sldMkLst>
        <pc:spChg chg="mod">
          <ac:chgData name="KV KV" userId="b5fbb1515ce3f78e" providerId="LiveId" clId="{2838AA4A-59AC-47B0-A609-4ABA9BD9BE11}" dt="2026-02-19T20:39:57.956" v="1536" actId="20577"/>
          <ac:spMkLst>
            <pc:docMk/>
            <pc:sldMk cId="336680936" sldId="256"/>
            <ac:spMk id="2" creationId="{D81F1DEF-162B-D5F3-E6CF-AEA675CC7C2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3B5A-AD85-A976-3835-CB6595093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A3032-E248-D4DD-880C-1ADF14627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BDEED-AD61-A0A1-D05B-669FE452C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7ED81-5BBE-C844-B438-03E21616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D03A4-0167-371F-4C07-1C4549FC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33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AE73-583E-B824-215D-BFD65231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69E2C-F0FC-E97C-C997-2538F9CF9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CCCB9-EBA8-AF3E-A0A0-8D0BEE4E4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39464-FD9B-C5CD-27FC-3628A613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BCD24-37EE-7571-C44C-A2DD7DAA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36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5A18-9FF2-F06A-82BD-9D54CC62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89808-8AB2-5B5D-F665-11D3A0450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018A-BEEE-E65C-6DE6-26495A7A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5BCED-2C71-EC7B-A721-219AC762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FF306-CB74-35CC-D383-8E63FE28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61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EB8E-4C58-A9B0-D52D-A2501C05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2638E-1043-BDE9-889F-7EC6D492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88026-A370-C792-F38D-EDB7F297C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3E431-30A4-8A11-187E-9C22A420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0764A-8C31-4152-C6A8-DA600FEF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EDACD-5C5A-B27C-DE21-377B0F31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352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EDCE-6BE5-AA4C-13C6-94E1DB9C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93C24-732C-75EF-545C-5831525B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AC41E-F6BC-C3A0-FEC8-FB89D4581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7FD99-ED47-7F68-E135-79E96F9AA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A54D1-2B3B-2956-AF1E-FD5DDC8F0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088EC-E6D7-118A-85C7-F0ECF424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4A5B4-EA97-B865-BD30-A15FA476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39FE8F-0DC0-79FA-E614-87CC2F1F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36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E5AE-5540-8821-FC44-1C90B0D2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A9DDC-A15A-928E-DACD-0C931A56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E6B5F-781B-0A15-67EE-108EC124F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DFAF3-ED4B-1BFD-5F7A-E87EA643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485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7869DB-F606-981F-6A02-DF4DFA36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93B09-3747-5783-2108-1E0DB2EF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0B8B0-1556-229A-36D0-AF97378D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537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3D3F-7468-A2B2-EEA6-394B8260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454BF-B650-EEB6-4E45-9A5E0C4B3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CAB00-6061-BA84-F84F-4CAD5FF66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28331-9CCD-B765-D374-261F4561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F14DA-3C15-41CE-5D14-94CB72BD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F743F-DAB5-9688-9F7C-64ACA8C6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442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6111-13A1-8448-2288-0549B102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2FB70-2FAF-4560-44E4-B499AB202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F76D8-782D-F902-013C-173B7B74F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C6B90-DEC8-9A65-49A7-4C77FCC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1F1C1-4A7E-2488-9A4F-3BA10858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3C709-B592-01F8-12DE-69D1551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334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AD35-F184-B262-1CF6-52EA1DB8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59832-50DB-E892-5FFA-A317C6F22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627B-CB02-379E-59E3-E76EA72B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7FCA9-3E60-2920-7C4F-3148FD9E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05FD6-7E7E-4DA2-BBFD-4ED39AF4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04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3B382-6C30-6FAD-93C0-A27D9E7D2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AE4DE-A543-550F-DD0F-570616F6B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802F2-10DF-BCE7-7F91-1A8BE2BA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3CCA0-06EB-D9FE-6006-3D5E7F5F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8D281-4D22-2907-BE12-96E984DCB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766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01837-7C54-4E9D-1100-3F141C1FE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8E278-2FD2-7964-14D7-B0A8DC155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6351-A796-64CC-2170-4869F872E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22A2C-4961-46CE-B736-BBD68B14B7D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6363F-0020-51B3-5F24-4AD12DF90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19C52-7F44-F657-1218-D83294BF6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2DB5A-2717-4855-9B2A-D2682E7401A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03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F1DEF-162B-D5F3-E6CF-AEA675CC7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NBA Game recommendation engine</a:t>
            </a:r>
            <a:endParaRPr lang="en-CA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DB2AA-7E98-2C57-1ECA-DC560C5B0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68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219A1-E16B-C805-575D-56CA1126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Choosing a recommendation model</a:t>
            </a:r>
            <a:endParaRPr lang="en-C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0624-0EA9-B6D8-0F15-8DD2B646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7" y="1127051"/>
            <a:ext cx="10636284" cy="487450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Content based : Needs lots of features, cold start problem</a:t>
            </a:r>
          </a:p>
          <a:p>
            <a:endParaRPr lang="en-US" sz="2000" dirty="0"/>
          </a:p>
          <a:p>
            <a:r>
              <a:rPr lang="en-US" sz="2000" dirty="0"/>
              <a:t>Collaborative filtering :</a:t>
            </a:r>
          </a:p>
          <a:p>
            <a:pPr lvl="1"/>
            <a:r>
              <a:rPr lang="en-US" sz="2000" dirty="0"/>
              <a:t>Matrix factorization (vs. user-user, item item) : Captures hidden relationships, handles sparsity better, scalable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BPR-MF</a:t>
            </a:r>
            <a:r>
              <a:rPr lang="en-US" dirty="0"/>
              <a:t> : Better at ranking than ALS</a:t>
            </a:r>
          </a:p>
        </p:txBody>
      </p:sp>
    </p:spTree>
    <p:extLst>
      <p:ext uri="{BB962C8B-B14F-4D97-AF65-F5344CB8AC3E}">
        <p14:creationId xmlns:p14="http://schemas.microsoft.com/office/powerpoint/2010/main" val="363204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FE23A-228E-B26C-10F5-9E1D7238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Assumptions and trade-offs</a:t>
            </a:r>
            <a:endParaRPr lang="en-C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90DE1-FF40-4C5A-FF63-4F4BB7EB7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Data </a:t>
            </a:r>
          </a:p>
          <a:p>
            <a:pPr lvl="1"/>
            <a:r>
              <a:rPr lang="en-US" sz="1700" dirty="0"/>
              <a:t>Team A @ Team B (Team A is away team) </a:t>
            </a:r>
          </a:p>
          <a:p>
            <a:pPr lvl="1"/>
            <a:r>
              <a:rPr lang="en-US" sz="1700" dirty="0"/>
              <a:t>Team A &amp; Team B : Can be either way</a:t>
            </a:r>
          </a:p>
          <a:p>
            <a:pPr lvl="1"/>
            <a:r>
              <a:rPr lang="en-US" sz="1700" dirty="0" err="1"/>
              <a:t>Betdate</a:t>
            </a:r>
            <a:r>
              <a:rPr lang="en-US" sz="1700" dirty="0"/>
              <a:t> is not the same as official game date</a:t>
            </a:r>
          </a:p>
          <a:p>
            <a:pPr lvl="1"/>
            <a:endParaRPr lang="en-US" sz="1700" dirty="0"/>
          </a:p>
          <a:p>
            <a:pPr marL="228600" lvl="1">
              <a:spcBef>
                <a:spcPts val="1000"/>
              </a:spcBef>
            </a:pPr>
            <a:r>
              <a:rPr lang="en-US" sz="1700" dirty="0"/>
              <a:t>Algorithm</a:t>
            </a:r>
          </a:p>
          <a:p>
            <a:pPr marL="685800" lvl="2">
              <a:spcBef>
                <a:spcPts val="1000"/>
              </a:spcBef>
            </a:pPr>
            <a:r>
              <a:rPr lang="en-US" sz="1700" dirty="0"/>
              <a:t>BPR-MF helps with ranking order, however falters on explainability (latent vectors) </a:t>
            </a:r>
          </a:p>
          <a:p>
            <a:pPr marL="685800" lvl="2">
              <a:spcBef>
                <a:spcPts val="1000"/>
              </a:spcBef>
            </a:pPr>
            <a:r>
              <a:rPr lang="en-US" sz="1700" dirty="0"/>
              <a:t>Preferences of different users are independent</a:t>
            </a:r>
          </a:p>
          <a:p>
            <a:pPr marL="685800" lvl="2">
              <a:spcBef>
                <a:spcPts val="1000"/>
              </a:spcBef>
            </a:pPr>
            <a:r>
              <a:rPr lang="en-US" sz="1700" dirty="0" err="1"/>
              <a:t>Wager_amount</a:t>
            </a:r>
            <a:r>
              <a:rPr lang="en-US" sz="1700" dirty="0"/>
              <a:t> is an implicit feedback for user preference</a:t>
            </a:r>
          </a:p>
          <a:p>
            <a:pPr marL="685800" lvl="2">
              <a:spcBef>
                <a:spcPts val="1000"/>
              </a:spcBef>
            </a:pPr>
            <a:r>
              <a:rPr lang="en-US" sz="1700" dirty="0" err="1"/>
              <a:t>Wager_amount</a:t>
            </a:r>
            <a:r>
              <a:rPr lang="en-US" sz="1700" dirty="0"/>
              <a:t> magnitude is not considered (binary implicit)</a:t>
            </a:r>
          </a:p>
          <a:p>
            <a:pPr marL="685800" lvl="2">
              <a:spcBef>
                <a:spcPts val="1000"/>
              </a:spcBef>
            </a:pPr>
            <a:r>
              <a:rPr lang="en-US" sz="1700" dirty="0"/>
              <a:t>Model scoring is calibrated using Platt scaling</a:t>
            </a:r>
          </a:p>
          <a:p>
            <a:pPr marL="457200" lvl="1" indent="0">
              <a:buNone/>
            </a:pPr>
            <a:endParaRPr lang="en-CA" sz="1700" dirty="0"/>
          </a:p>
        </p:txBody>
      </p:sp>
    </p:spTree>
    <p:extLst>
      <p:ext uri="{BB962C8B-B14F-4D97-AF65-F5344CB8AC3E}">
        <p14:creationId xmlns:p14="http://schemas.microsoft.com/office/powerpoint/2010/main" val="208941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DEA03-5440-67CD-9DC5-42AFAA9A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Model Performance (pre-season vs box score)</a:t>
            </a:r>
            <a:endParaRPr lang="en-C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1643-7F45-A9C8-B7B8-0E674839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936" y="1885279"/>
            <a:ext cx="10734123" cy="2155093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r>
              <a:rPr lang="en-CA" sz="2000" dirty="0"/>
              <a:t>NDCG@3 : 0.33 vs 0.17</a:t>
            </a:r>
          </a:p>
          <a:p>
            <a:r>
              <a:rPr lang="en-CA" sz="2000" dirty="0"/>
              <a:t>Precision @3 : 0.29 vs. 0.11</a:t>
            </a:r>
          </a:p>
          <a:p>
            <a:r>
              <a:rPr lang="en-CA" sz="2000" dirty="0"/>
              <a:t>Coverage@3 : 0.36 vs.0.28</a:t>
            </a:r>
          </a:p>
          <a:p>
            <a:endParaRPr lang="en-C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1B447-179F-126A-3EB7-CBA557F45C52}"/>
              </a:ext>
            </a:extLst>
          </p:cNvPr>
          <p:cNvSpPr txBox="1"/>
          <p:nvPr/>
        </p:nvSpPr>
        <p:spPr>
          <a:xfrm>
            <a:off x="6096001" y="6180881"/>
            <a:ext cx="598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 function  =0.6 NDCG * 0.3 Precision + 0.1 coverage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537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64F43-3F3D-211B-CCF2-FC95D1CB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Schedule Discrepancies</a:t>
            </a:r>
            <a:endParaRPr lang="en-C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68A96-EF50-DA47-FF86-CD0EC83F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60" y="189197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Avg length pre-season schedule = 1.8</a:t>
            </a:r>
          </a:p>
          <a:p>
            <a:r>
              <a:rPr lang="en-US" sz="2000" dirty="0"/>
              <a:t>Avg length box score = 2.9</a:t>
            </a:r>
          </a:p>
          <a:p>
            <a:r>
              <a:rPr lang="en-US" sz="2000" dirty="0"/>
              <a:t>Avg. confidence pre-season schedule =47.8</a:t>
            </a:r>
          </a:p>
          <a:p>
            <a:r>
              <a:rPr lang="en-US" sz="2000" dirty="0"/>
              <a:t>Avg length box score = 50.4</a:t>
            </a:r>
          </a:p>
          <a:p>
            <a:r>
              <a:rPr lang="en-US" sz="2000" dirty="0"/>
              <a:t>Avg. confidence pre-season schedule (rank 1) = 44.8</a:t>
            </a:r>
          </a:p>
          <a:p>
            <a:r>
              <a:rPr lang="en-US" sz="2000" dirty="0"/>
              <a:t>Avg length box score (rank 1) = 49.3</a:t>
            </a:r>
          </a:p>
          <a:p>
            <a:r>
              <a:rPr lang="en-US" sz="2000" dirty="0"/>
              <a:t>Complete intersection (games &amp; ranks) = 0%</a:t>
            </a:r>
          </a:p>
          <a:p>
            <a:r>
              <a:rPr lang="en-US" sz="2000" dirty="0"/>
              <a:t>Partial intersection (games only) = 0%</a:t>
            </a:r>
          </a:p>
        </p:txBody>
      </p:sp>
    </p:spTree>
    <p:extLst>
      <p:ext uri="{BB962C8B-B14F-4D97-AF65-F5344CB8AC3E}">
        <p14:creationId xmlns:p14="http://schemas.microsoft.com/office/powerpoint/2010/main" val="181173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E651F-DA18-B982-2A50-2BCCDC43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 Evaluation Approach</a:t>
            </a:r>
            <a:endParaRPr lang="en-C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D338-D2F4-EF8E-E518-469F5EB06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700" y="1052623"/>
            <a:ext cx="10636280" cy="419402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Model has to take slate for the day and recommend top 3</a:t>
            </a:r>
          </a:p>
          <a:p>
            <a:r>
              <a:rPr lang="en-US" sz="2000" dirty="0"/>
              <a:t>Bet date is not same as game date </a:t>
            </a:r>
          </a:p>
          <a:p>
            <a:r>
              <a:rPr lang="en-US" sz="2000" dirty="0" err="1"/>
              <a:t>Df_validation</a:t>
            </a:r>
            <a:r>
              <a:rPr lang="en-US" sz="2000" dirty="0"/>
              <a:t> has been appended with pre-season schedule game date and official game date (from box scores from NBA website)</a:t>
            </a:r>
          </a:p>
          <a:p>
            <a:r>
              <a:rPr lang="en-US" sz="2000" dirty="0"/>
              <a:t>Each bet is assigned to the first game date (bet date &lt;= game date)</a:t>
            </a:r>
            <a:endParaRPr lang="en-C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84339-D643-12CC-4EAD-6B4924C353D3}"/>
              </a:ext>
            </a:extLst>
          </p:cNvPr>
          <p:cNvSpPr txBox="1"/>
          <p:nvPr/>
        </p:nvSpPr>
        <p:spPr>
          <a:xfrm>
            <a:off x="6096001" y="6180881"/>
            <a:ext cx="5987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Ideally should be done in training data too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6579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E1669-8957-873A-E5A1-47A43207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ML Production workflow</a:t>
            </a:r>
            <a:endParaRPr lang="en-CA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B0651-32C8-F6BA-BA28-27E003201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1" y="1891970"/>
            <a:ext cx="10636280" cy="410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AWS technologies used </a:t>
            </a:r>
          </a:p>
          <a:p>
            <a:pPr lvl="1"/>
            <a:r>
              <a:rPr lang="en-US" sz="2000" dirty="0"/>
              <a:t>Lambda</a:t>
            </a:r>
          </a:p>
          <a:p>
            <a:pPr lvl="1"/>
            <a:r>
              <a:rPr lang="en-US" sz="2000" dirty="0"/>
              <a:t>ECR</a:t>
            </a:r>
          </a:p>
          <a:p>
            <a:pPr lvl="1"/>
            <a:r>
              <a:rPr lang="en-US" sz="2000" dirty="0" err="1"/>
              <a:t>Eventbridge</a:t>
            </a:r>
            <a:endParaRPr lang="en-US" sz="2000" dirty="0"/>
          </a:p>
          <a:p>
            <a:pPr lvl="1"/>
            <a:r>
              <a:rPr lang="en-US" sz="2000" dirty="0"/>
              <a:t>S3</a:t>
            </a:r>
          </a:p>
          <a:p>
            <a:pPr lvl="1"/>
            <a:r>
              <a:rPr lang="en-US" sz="2000" dirty="0" err="1"/>
              <a:t>Cloudwatch</a:t>
            </a:r>
            <a:endParaRPr lang="en-US" sz="2000" dirty="0"/>
          </a:p>
          <a:p>
            <a:pPr lvl="1"/>
            <a:r>
              <a:rPr lang="en-US" sz="2000" dirty="0"/>
              <a:t>IAM</a:t>
            </a:r>
          </a:p>
          <a:p>
            <a:pPr lvl="1"/>
            <a:r>
              <a:rPr lang="en-US" sz="2000" dirty="0" err="1"/>
              <a:t>Sagemaker</a:t>
            </a:r>
            <a:endParaRPr lang="en-US" sz="2000" dirty="0"/>
          </a:p>
          <a:p>
            <a:pPr lvl="1"/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940818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325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NBA Game recommendation engine</vt:lpstr>
      <vt:lpstr>Choosing a recommendation model</vt:lpstr>
      <vt:lpstr>Assumptions and trade-offs</vt:lpstr>
      <vt:lpstr>Model Performance (pre-season vs box score)</vt:lpstr>
      <vt:lpstr>Schedule Discrepancies</vt:lpstr>
      <vt:lpstr>Model Evaluation Approach</vt:lpstr>
      <vt:lpstr>ML Production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KV KV</dc:creator>
  <cp:lastModifiedBy>KV KV</cp:lastModifiedBy>
  <cp:revision>1</cp:revision>
  <dcterms:created xsi:type="dcterms:W3CDTF">2025-09-15T20:35:26Z</dcterms:created>
  <dcterms:modified xsi:type="dcterms:W3CDTF">2026-02-19T20:40:03Z</dcterms:modified>
</cp:coreProperties>
</file>